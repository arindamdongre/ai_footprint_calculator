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70" r:id="rId5"/>
    <p:sldId id="269" r:id="rId6"/>
    <p:sldId id="259" r:id="rId7"/>
    <p:sldId id="267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5BF3E-4EB2-CF4D-F7E7-1B578495D293}" v="215" dt="2026-04-20T17:02:27.661"/>
    <p1510:client id="{4B215A4B-8DB2-0A7E-7A61-47E022E0162A}" v="92" dt="2026-04-20T17:51:45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 (g CO₂e)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0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3C2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"one word"</c:v>
                </c:pt>
                <c:pt idx="1">
                  <c:v>Default</c:v>
                </c:pt>
                <c:pt idx="2">
                  <c:v>"in detail"</c:v>
                </c:pt>
                <c:pt idx="3">
                  <c:v>"comprehensive
+ examples"</c:v>
                </c:pt>
                <c:pt idx="4">
                  <c:v>Code gen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5.9999999999999995E-4</c:v>
                </c:pt>
                <c:pt idx="1">
                  <c:v>1.2E-2</c:v>
                </c:pt>
                <c:pt idx="2">
                  <c:v>2.5999999999999999E-2</c:v>
                </c:pt>
                <c:pt idx="3">
                  <c:v>4.2000000000000003E-2</c:v>
                </c:pt>
                <c:pt idx="4">
                  <c:v>3.5999999999999997E-2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A-436F-B8D1-DD4C5FA968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296C2-F19F-4810-9792-F1D79A9DAA56}" type="datetimeFigureOut"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8BB5E-6BBB-441F-A89A-6363084839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C4734-5A21-81DA-5BF3-B8C92689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9EF83-4DDD-70A6-CF5E-0FA0C3354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8280F-DD88-2B2A-89C2-EA5B4BC01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35C60-F61A-77C4-433C-C7B726A1E7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82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4BA5-76B7-A53D-C0A0-2B883A8C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D3B5E-06CB-A8A1-9434-6450FA442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657A0C-7E5C-792F-0719-02EA7FA01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01778-7AD5-5026-FABE-89C8A3A34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24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659E-7577-3D92-6B42-E3198EEEB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F0EDD-7D3B-99DF-2DA9-A7D796DA4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45846-10A2-759D-39E5-2655D3756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95EC1-F150-BA24-9249-70258408B8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98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7EE04-0D71-86C4-55C2-CB3AF270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A1F0C-8200-58C7-00B5-ED49F133D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27352-33DB-1C8E-410B-CA20E16A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D3D7B-2F67-1839-3C29-7B33DEF52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3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Footprint</a:t>
            </a:r>
            <a:endParaRPr lang="en-US" sz="320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Calculator</a:t>
            </a:r>
            <a:endParaRPr lang="en-US" sz="3200"/>
          </a:p>
        </p:txBody>
      </p:sp>
      <p:sp>
        <p:nvSpPr>
          <p:cNvPr id="5" name="Text 2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to Estimate</a:t>
            </a:r>
            <a:endParaRPr lang="en-US" sz="1800"/>
          </a:p>
          <a:p>
            <a:pPr marL="0" indent="0">
              <a:lnSpc>
                <a:spcPct val="130000"/>
              </a:lnSpc>
              <a:buNone/>
            </a:pPr>
            <a:r>
              <a:rPr lang="en-US" sz="18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Externalities of</a:t>
            </a:r>
            <a:endParaRPr lang="en-US" sz="1800"/>
          </a:p>
          <a:p>
            <a:pPr marL="0" indent="0">
              <a:lnSpc>
                <a:spcPct val="130000"/>
              </a:lnSpc>
              <a:buNone/>
            </a:pPr>
            <a:r>
              <a:rPr lang="en-US" sz="18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Queries</a:t>
            </a:r>
            <a:endParaRPr lang="en-US" sz="1800"/>
          </a:p>
        </p:txBody>
      </p:sp>
      <p:sp>
        <p:nvSpPr>
          <p:cNvPr id="6" name="Text 3"/>
          <p:cNvSpPr/>
          <p:nvPr/>
        </p:nvSpPr>
        <p:spPr>
          <a:xfrm>
            <a:off x="4754880" y="2926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COL8381 — Responsible AI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Delhi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4754880" y="3749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Arindam Rajiv Dongre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2025MCS2092</a:t>
            </a:r>
            <a:endParaRPr lang="en-US" sz="1100"/>
          </a:p>
          <a:p>
            <a:pPr marL="0" indent="0">
              <a:buNone/>
            </a:pP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Chaudhari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2025MCS2096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80–90%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ML cloud compute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inference, not training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2019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1–1.3%</a:t>
            </a:r>
            <a:endParaRPr lang="en-US" sz="360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data centers in 2022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38328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IEA, 2023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2C5F2D"/>
                </a:solidFill>
                <a:latin typeface="Georgia"/>
                <a:ea typeface="Calibri"/>
                <a:cs typeface="Calibri"/>
              </a:rPr>
              <a:t>Most</a:t>
            </a:r>
            <a:endParaRPr lang="en-US" sz="3600" b="1" dirty="0">
              <a:solidFill>
                <a:srgbClr val="2C5F2D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A3C24"/>
                </a:solidFill>
                <a:latin typeface="Calibri"/>
                <a:ea typeface="Calibri"/>
                <a:cs typeface="Calibri"/>
              </a:rPr>
              <a:t> users are </a:t>
            </a:r>
            <a:r>
              <a:rPr lang="en-US" sz="1200">
                <a:solidFill>
                  <a:srgbClr val="1A3C24"/>
                </a:solidFill>
                <a:latin typeface="Calibri"/>
                <a:ea typeface="Calibri"/>
                <a:cs typeface="Calibri"/>
              </a:rPr>
              <a:t>unaware of</a:t>
            </a:r>
            <a:r>
              <a:rPr lang="en-US" sz="1200" dirty="0">
                <a:solidFill>
                  <a:srgbClr val="1A3C24"/>
                </a:solidFill>
                <a:latin typeface="Calibri"/>
                <a:ea typeface="Calibri"/>
                <a:cs typeface="Calibri"/>
              </a:rPr>
              <a:t> the</a:t>
            </a:r>
            <a:endParaRPr lang="en-US" sz="12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00">
                <a:solidFill>
                  <a:srgbClr val="1A3C24"/>
                </a:solidFill>
                <a:latin typeface="Calibri"/>
                <a:ea typeface="Calibri"/>
                <a:cs typeface="Calibri"/>
              </a:rPr>
              <a:t>footprint of their queries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i="1" dirty="0" err="1">
                <a:solidFill>
                  <a:srgbClr val="6B8A6E"/>
                </a:solidFill>
                <a:ea typeface="Calibri"/>
                <a:cs typeface="Calibri"/>
              </a:rPr>
              <a:t>GPTFootprint</a:t>
            </a:r>
            <a:r>
              <a:rPr lang="en-US" sz="900" i="1" dirty="0">
                <a:solidFill>
                  <a:srgbClr val="6B8A6E"/>
                </a:solidFill>
                <a:ea typeface="Calibri"/>
                <a:cs typeface="Calibri"/>
              </a:rPr>
              <a:t>, 2025</a:t>
            </a:r>
            <a:endParaRPr lang="en-US" sz="9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i="1">
              <a:solidFill>
                <a:srgbClr val="1A3C24"/>
              </a:solidFill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1A3C24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400" i="1">
              <a:solidFill>
                <a:srgbClr val="1A3C24"/>
              </a:solidFill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4612737"/>
            <a:ext cx="8229600" cy="592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 dirty="0">
              <a:solidFill>
                <a:srgbClr val="2C5F2D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7B704-BBBD-2058-4115-ECDD9A15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D72FE-5039-AFF6-F8A6-96F3C9092EF3}"/>
              </a:ext>
            </a:extLst>
          </p:cNvPr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ABB075-73B5-E7C0-C5A5-0D5D04F7B106}"/>
              </a:ext>
            </a:extLst>
          </p:cNvPr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87F97F-829A-FBFA-6817-FA0559034572}"/>
              </a:ext>
            </a:extLst>
          </p:cNvPr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CA8A04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CA7A179-A6A0-0EC1-3CA8-7042BE3DB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411480" cy="4114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801F1F5D-DA0A-7B1C-E516-E9F6C09315C5}"/>
              </a:ext>
            </a:extLst>
          </p:cNvPr>
          <p:cNvSpPr/>
          <p:nvPr/>
        </p:nvSpPr>
        <p:spPr>
          <a:xfrm>
            <a:off x="1508760" y="1280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at Scale</a:t>
            </a:r>
            <a:endParaRPr lang="en-US"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5A8EA08-1C6C-FFFC-439C-F7F4184CD902}"/>
              </a:ext>
            </a:extLst>
          </p:cNvPr>
          <p:cNvSpPr/>
          <p:nvPr/>
        </p:nvSpPr>
        <p:spPr>
          <a:xfrm>
            <a:off x="150876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ChatGPT query uses 10× more energy than a Google search. At 700M+ queries/day, this is substantial.</a:t>
            </a:r>
            <a:endParaRPr lang="en-US" sz="11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E88F5A26-5755-C2C1-A448-1D28212E71E5}"/>
              </a:ext>
            </a:extLst>
          </p:cNvPr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Luccioni et al. (2024), Li et al. (2023), IEA Electricity 2023, GPTFootprint (2025)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06789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61D18-5FAD-9DA2-2F19-A6B1F489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3EB37F-C956-CA79-1A0C-4AAE5B6F9397}"/>
              </a:ext>
            </a:extLst>
          </p:cNvPr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16DEAD-A103-13AE-C3F9-0D06B22EA935}"/>
              </a:ext>
            </a:extLst>
          </p:cNvPr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5F5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E000EF-EDFF-B77B-569E-FE7C1457F947}"/>
              </a:ext>
            </a:extLst>
          </p:cNvPr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F5F5F0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86FBC90D-BBD1-8245-C921-08111F6AE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411480" cy="41148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1A89845-DEE5-5EA3-BC09-D0F67CE94DD9}"/>
              </a:ext>
            </a:extLst>
          </p:cNvPr>
          <p:cNvSpPr/>
          <p:nvPr/>
        </p:nvSpPr>
        <p:spPr>
          <a:xfrm>
            <a:off x="1508760" y="1288098"/>
            <a:ext cx="6858000" cy="320040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at Scale</a:t>
            </a:r>
            <a:endParaRPr lang="en-US"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3DCC792-287B-7960-6016-7E610ACF48C8}"/>
              </a:ext>
            </a:extLst>
          </p:cNvPr>
          <p:cNvSpPr/>
          <p:nvPr/>
        </p:nvSpPr>
        <p:spPr>
          <a:xfrm>
            <a:off x="1508760" y="1645920"/>
            <a:ext cx="6858000" cy="457200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ChatGPT query uses 10× more energy than a Google search. At 700M+ queries/day, this is substantial.</a:t>
            </a:r>
            <a:endParaRPr lang="en-US" sz="115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38FAD8-F728-A2BF-709D-A137824ECD52}"/>
              </a:ext>
            </a:extLst>
          </p:cNvPr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99E59B4-968C-28FD-6CC1-9DF9E3407053}"/>
              </a:ext>
            </a:extLst>
          </p:cNvPr>
          <p:cNvSpPr/>
          <p:nvPr/>
        </p:nvSpPr>
        <p:spPr>
          <a:xfrm>
            <a:off x="548640" y="2423160"/>
            <a:ext cx="54864" cy="1051560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02884B99-39E3-E1F5-67CE-8AD1BE29F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97480"/>
            <a:ext cx="411480" cy="411480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65E586D1-BB44-5656-4225-7C3BDCEC1270}"/>
              </a:ext>
            </a:extLst>
          </p:cNvPr>
          <p:cNvSpPr/>
          <p:nvPr/>
        </p:nvSpPr>
        <p:spPr>
          <a:xfrm>
            <a:off x="150876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Blind Spot</a:t>
            </a:r>
            <a:endParaRPr lang="en-US" sz="15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FDC9463-9B69-D55B-0890-3435C7E88A93}"/>
              </a:ext>
            </a:extLst>
          </p:cNvPr>
          <p:cNvSpPr/>
          <p:nvPr/>
        </p:nvSpPr>
        <p:spPr>
          <a:xfrm>
            <a:off x="150876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 report training carbon but never inference carbon — yet inference dominates lifetime emissions.</a:t>
            </a:r>
            <a:endParaRPr lang="en-US" sz="11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85E3BBE-F362-5186-CE86-24C94E55DDE6}"/>
              </a:ext>
            </a:extLst>
          </p:cNvPr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Luccioni et al. (2024), Li et al. (2023), IEA Electricity 2023, GPTFootprint (2025)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8537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A41F09-B433-6AC7-5509-1C74DDDC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D6F8F3-35F9-4091-D26D-C9B4DFC1BEC6}"/>
              </a:ext>
            </a:extLst>
          </p:cNvPr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6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62B166-9E53-32F8-5F09-3BF3EE200BBB}"/>
              </a:ext>
            </a:extLst>
          </p:cNvPr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5FE9B4-6100-1900-80C1-BC309EC4F801}"/>
              </a:ext>
            </a:extLst>
          </p:cNvPr>
          <p:cNvSpPr/>
          <p:nvPr/>
        </p:nvSpPr>
        <p:spPr>
          <a:xfrm>
            <a:off x="548640" y="1188720"/>
            <a:ext cx="54864" cy="105156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65FB1D8-4B9A-A98D-FE8D-239AD5C1C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463040"/>
            <a:ext cx="411480" cy="411480"/>
          </a:xfrm>
          <a:prstGeom prst="rect">
            <a:avLst/>
          </a:prstGeom>
          <a:ln>
            <a:solidFill>
              <a:srgbClr val="F5F5F0"/>
            </a:solidFill>
          </a:ln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3AD09363-3B84-6553-6A32-1C7913A11287}"/>
              </a:ext>
            </a:extLst>
          </p:cNvPr>
          <p:cNvSpPr/>
          <p:nvPr/>
        </p:nvSpPr>
        <p:spPr>
          <a:xfrm>
            <a:off x="1508760" y="1280160"/>
            <a:ext cx="6858000" cy="320040"/>
          </a:xfrm>
          <a:prstGeom prst="rect">
            <a:avLst/>
          </a:prstGeom>
          <a:solidFill>
            <a:srgbClr val="F5F5F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at Scale</a:t>
            </a:r>
            <a:endParaRPr lang="en-US" sz="15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0843C17-768E-7901-3F88-3BE560692B94}"/>
              </a:ext>
            </a:extLst>
          </p:cNvPr>
          <p:cNvSpPr/>
          <p:nvPr/>
        </p:nvSpPr>
        <p:spPr>
          <a:xfrm>
            <a:off x="1508760" y="1645920"/>
            <a:ext cx="6858000" cy="45720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ChatGPT query uses 10× more energy than a Google search. At 700M+ queries/day, this is substantial.</a:t>
            </a:r>
            <a:endParaRPr lang="en-US" sz="115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99D25A3-E5F4-6965-1088-86B2289CB637}"/>
              </a:ext>
            </a:extLst>
          </p:cNvPr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0A6C1B8-0576-5F25-153A-193628754B68}"/>
              </a:ext>
            </a:extLst>
          </p:cNvPr>
          <p:cNvSpPr/>
          <p:nvPr/>
        </p:nvSpPr>
        <p:spPr>
          <a:xfrm>
            <a:off x="548640" y="2423160"/>
            <a:ext cx="54864" cy="1051560"/>
          </a:xfrm>
          <a:prstGeom prst="rect">
            <a:avLst/>
          </a:prstGeom>
          <a:solidFill>
            <a:srgbClr val="F5F5F0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D4B484B-AE6C-3067-EBE2-631B03663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97480"/>
            <a:ext cx="411480" cy="411480"/>
          </a:xfrm>
          <a:prstGeom prst="rect">
            <a:avLst/>
          </a:prstGeom>
          <a:ln>
            <a:solidFill>
              <a:srgbClr val="F5F5F0"/>
            </a:solidFill>
          </a:ln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BAD7C0DA-FC2A-9345-244E-747D63E562DA}"/>
              </a:ext>
            </a:extLst>
          </p:cNvPr>
          <p:cNvSpPr/>
          <p:nvPr/>
        </p:nvSpPr>
        <p:spPr>
          <a:xfrm>
            <a:off x="1508760" y="2514600"/>
            <a:ext cx="6858000" cy="32004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Blind Spot</a:t>
            </a:r>
            <a:endParaRPr lang="en-US" sz="150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F12E681-034F-AB93-1DDC-BD9AE9923157}"/>
              </a:ext>
            </a:extLst>
          </p:cNvPr>
          <p:cNvSpPr/>
          <p:nvPr/>
        </p:nvSpPr>
        <p:spPr>
          <a:xfrm>
            <a:off x="1508760" y="2880360"/>
            <a:ext cx="6858000" cy="457200"/>
          </a:xfrm>
          <a:prstGeom prst="rect">
            <a:avLst/>
          </a:prstGeom>
          <a:solidFill>
            <a:srgbClr val="F5F5F0"/>
          </a:solidFill>
          <a:ln>
            <a:solidFill>
              <a:srgbClr val="F5F5F0"/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 report training carbon but never inference carbon — yet inference dominates lifetime emissions.</a:t>
            </a:r>
            <a:endParaRPr lang="en-US" sz="115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134737D-1ACD-1B0F-FD7F-0241686B0EA6}"/>
              </a:ext>
            </a:extLst>
          </p:cNvPr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AFCBB02-172F-51A1-4BA0-58D86D372E9E}"/>
              </a:ext>
            </a:extLst>
          </p:cNvPr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B01ABCAE-220D-DE27-9BE0-EFA00B6A61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411480" cy="411480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B6CBCF9B-7813-6C58-6934-4FC080418D0D}"/>
              </a:ext>
            </a:extLst>
          </p:cNvPr>
          <p:cNvSpPr/>
          <p:nvPr/>
        </p:nvSpPr>
        <p:spPr>
          <a:xfrm>
            <a:off x="1508760" y="3749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Water Cost</a:t>
            </a:r>
            <a:endParaRPr lang="en-US" sz="150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0496AD0-ECC8-5435-FBAA-AB47DE6D51D0}"/>
              </a:ext>
            </a:extLst>
          </p:cNvPr>
          <p:cNvSpPr/>
          <p:nvPr/>
        </p:nvSpPr>
        <p:spPr>
          <a:xfrm>
            <a:off x="1508760" y="4114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consumes ~500mL of water for every 10–50 responses. Global AI water withdrawal could reach 6.6B m³ by 2027.</a:t>
            </a:r>
            <a:endParaRPr lang="en-US" sz="115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524C68D-8C5B-5281-7BC6-7468C3997B54}"/>
              </a:ext>
            </a:extLst>
          </p:cNvPr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Luccioni et al. (2024), Li et al. (2023), IEA Electricity 2023, GPTFootprint (2025)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55727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 — The Formula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00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= α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β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γ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100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facility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E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PUE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00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= E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facility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I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endParaRPr lang="en-US" sz="1600"/>
          </a:p>
          <a:p>
            <a:pPr marL="0" indent="0">
              <a:lnSpc>
                <a:spcPct val="100000"/>
              </a:lnSpc>
              <a:buNone/>
            </a:pPr>
            <a:endParaRPr 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sz="1600" b="1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</a:t>
            </a:r>
            <a:r>
              <a:rPr lang="en-US" sz="100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E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ρ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E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facility</a:t>
            </a:r>
            <a:r>
              <a:rPr lang="en-US" sz="14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 ρ</a:t>
            </a:r>
            <a:r>
              <a:rPr lang="en-US" sz="1000">
                <a:solidFill>
                  <a:srgbClr val="1A3C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α_m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28016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energy/query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128016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(CodeCarbon)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342900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β_ℓ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416052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Prompt-length scaling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416052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regression (R²=0.817)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630936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γ_h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7040880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factor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7040880" y="3858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i="1" dirty="0">
              <a:solidFill>
                <a:srgbClr val="6B8A6E"/>
              </a:solidFill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PUE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overhead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280160" y="4361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(2023)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342900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I_grid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416052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carbon intensity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4160520" y="4361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Dodge et al. (2022)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6309360" y="4160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ρ_s1 / ρ_s2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040880" y="4160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efficiency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7040880" y="43616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(2023)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E54EF-F626-464B-990C-05A2BD85E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3F522E8-6305-7597-0C64-4402544D0177}"/>
              </a:ext>
            </a:extLst>
          </p:cNvPr>
          <p:cNvSpPr/>
          <p:nvPr/>
        </p:nvSpPr>
        <p:spPr>
          <a:xfrm>
            <a:off x="1097280" y="12801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000" dirty="0">
              <a:solidFill>
                <a:srgbClr val="1A3C24"/>
              </a:solidFill>
              <a:latin typeface="Consolas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74B2DA-BD35-24BA-47FD-FCE7968E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27" t="45440" r="24153" b="18856"/>
          <a:stretch>
            <a:fillRect/>
          </a:stretch>
        </p:blipFill>
        <p:spPr>
          <a:xfrm>
            <a:off x="547688" y="833437"/>
            <a:ext cx="6518825" cy="351912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B413A04-F2FE-3730-7012-362D74AEF4B8}"/>
              </a:ext>
            </a:extLst>
          </p:cNvPr>
          <p:cNvSpPr txBox="1"/>
          <p:nvPr/>
        </p:nvSpPr>
        <p:spPr>
          <a:xfrm>
            <a:off x="2286000" y="2571750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83DAFC-EF3A-2BDA-25F4-8F0492ABE893}"/>
              </a:ext>
            </a:extLst>
          </p:cNvPr>
          <p:cNvSpPr txBox="1"/>
          <p:nvPr/>
        </p:nvSpPr>
        <p:spPr>
          <a:xfrm>
            <a:off x="-47625" y="4722813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69F61AF4-7A79-E713-FC1A-78C2CE0768A2}"/>
              </a:ext>
            </a:extLst>
          </p:cNvPr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8A6E"/>
                </a:solidFill>
                <a:latin typeface="Calibri"/>
                <a:ea typeface="Calibri"/>
                <a:cs typeface="Calibri"/>
              </a:rPr>
              <a:t>Source: Luccioni et al. (2024).</a:t>
            </a:r>
            <a:endParaRPr lang="en-US" sz="900" i="1">
              <a:solidFill>
                <a:srgbClr val="6B8A6E"/>
              </a:solidFill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B4749D-60E6-76B2-4F10-1D75852D9F2C}"/>
              </a:ext>
            </a:extLst>
          </p:cNvPr>
          <p:cNvSpPr txBox="1"/>
          <p:nvPr/>
        </p:nvSpPr>
        <p:spPr>
          <a:xfrm>
            <a:off x="547688" y="0"/>
            <a:ext cx="75565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1A3C24"/>
                </a:solidFill>
                <a:latin typeface="Georgia"/>
              </a:rPr>
              <a:t>What is ps1 and ps2?</a:t>
            </a:r>
            <a:endParaRPr lang="en-US" sz="3600" b="1" dirty="0">
              <a:solidFill>
                <a:srgbClr val="1A3C24"/>
              </a:solidFill>
              <a:latin typeface="Georgia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3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Calibration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Built 120 prompts across 4 tasks × 5 length levels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Ran on Flan-T5-base + Qwen-0.5B (Kaggle T4)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3 repeats per prompt with CodeCarbon tracking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Fit GradientBoostingRegressor on features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Extracted α_m per model, β_ℓ heuristics from coefficients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Results</a:t>
            </a:r>
            <a:endParaRPr lang="en-US" sz="16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91640"/>
          <a:ext cx="3474720" cy="10972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α_m (kWh)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6.4e-5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1.83e-4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output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 tokens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154.8 tokens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Seq2Seq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Decoder-only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937760" y="2926080"/>
            <a:ext cx="347472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30175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0.817</a:t>
            </a:r>
            <a:endParaRPr lang="en-US" sz="2200"/>
          </a:p>
          <a:p>
            <a:pPr marL="0" indent="0" algn="ctr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GBR on held-out data</a:t>
            </a:r>
            <a:endParaRPr lang="en-US" sz="2200"/>
          </a:p>
          <a:p>
            <a:pPr marL="0" indent="0" algn="ctr">
              <a:buNone/>
            </a:pPr>
            <a:endParaRPr lang="en-US" sz="2200"/>
          </a:p>
          <a:p>
            <a:pPr marL="0" indent="0" algn="ctr">
              <a:buNone/>
            </a:pPr>
            <a:r>
              <a:rPr lang="en-US" sz="1100" b="1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2.86× costlier than Flan-T5</a:t>
            </a:r>
            <a:endParaRPr lang="en-US" sz="2200"/>
          </a:p>
          <a:p>
            <a:pPr marL="0" indent="0" algn="ctr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Luccioni: decoder &gt; seq2seq</a:t>
            </a:r>
            <a:endParaRPr 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Novel Feature</a:t>
            </a:r>
            <a:endParaRPr lang="en-US" sz="360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Prompt-Level Attribution via Ablation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existing tool does: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GPTFootprint &amp; EcoLogits treat every query the same — flat per-query average.</a:t>
            </a:r>
            <a:endParaRPr lang="en-US" sz="1400"/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200" b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tool inspects the prompt itself: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Predicts output length from keywords (β_ℓ)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Ablates each phrase → measures carbon delta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Shows which words cost the most</a:t>
            </a:r>
            <a:endParaRPr lang="en-US" sz="1400"/>
          </a:p>
          <a:p>
            <a:pPr marL="0" indent="0">
              <a:buNone/>
            </a:pPr>
            <a:r>
              <a:rPr lang="en-US" sz="11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Suggests rewrites to reduce footprint</a:t>
            </a:r>
            <a:endParaRPr lang="en-US" sz="1400"/>
          </a:p>
        </p:txBody>
      </p:sp>
      <p:sp>
        <p:nvSpPr>
          <p:cNvPr id="7" name="Shape 4"/>
          <p:cNvSpPr/>
          <p:nvPr/>
        </p:nvSpPr>
        <p:spPr>
          <a:xfrm>
            <a:off x="5303520" y="1463040"/>
            <a:ext cx="3474720" cy="3200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Attribution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5486400" y="19202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detail"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+0.0142 g CO₂e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"multiple examples"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+0.0089 g CO₂e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"step by step"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+0.0067 g CO₂e</a:t>
            </a:r>
            <a:endParaRPr lang="en-US" sz="1000"/>
          </a:p>
          <a:p>
            <a:pPr marL="0" indent="0">
              <a:buNone/>
            </a:pP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Suggestion: Add "briefly"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~50% savings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Results</a:t>
            </a:r>
            <a:endParaRPr lang="en-US" sz="360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09728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per query by prompt type (Qwen 0.5B, India grid)</a:t>
            </a:r>
            <a:endParaRPr lang="en-US" sz="900"/>
          </a:p>
        </p:txBody>
      </p:sp>
      <p:sp>
        <p:nvSpPr>
          <p:cNvPr id="5" name="Shape 2"/>
          <p:cNvSpPr/>
          <p:nvPr/>
        </p:nvSpPr>
        <p:spPr>
          <a:xfrm>
            <a:off x="5943600" y="1097280"/>
            <a:ext cx="29260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6126480" y="164592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</a:t>
            </a:r>
            <a:r>
              <a:rPr lang="en-US" sz="11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difference between shortest and longest prompts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1">
                <a:solidFill>
                  <a:srgbClr val="E8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2.86×</a:t>
            </a:r>
            <a:r>
              <a:rPr lang="en-US" sz="11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decoder-only costs vs seq2seq (same task)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11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β_ℓ is the</a:t>
            </a:r>
            <a:r>
              <a:rPr lang="en-US" sz="11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dominant</a:t>
            </a:r>
            <a:r>
              <a:rPr lang="en-US" sz="11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cost driver, not model size alone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1100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'briefly'</a:t>
            </a:r>
            <a:r>
              <a:rPr lang="en-US" sz="11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footprint ~50%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Studies</a:t>
            </a:r>
            <a:endParaRPr lang="en-US" sz="360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2651760" cy="45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🎓</a:t>
            </a:r>
            <a:endParaRPr lang="en-US" sz="280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40/day  ·  Medium LLM  ·  India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82880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0.156 kWh/day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Carbon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 kg CO₂/yr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82880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 L/month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3429000" y="109728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097280"/>
            <a:ext cx="265176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💼</a:t>
            </a:r>
            <a:endParaRPr lang="en-US" sz="280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42900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250/day  ·  Large LLM  ·  US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361188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470916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kWh/day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61188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Carbon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470916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 kg CO₂/yr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361188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70916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L/month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309360" y="1097280"/>
            <a:ext cx="26517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097280"/>
            <a:ext cx="2651760" cy="45720"/>
          </a:xfrm>
          <a:prstGeom prst="rect">
            <a:avLst/>
          </a:prstGeom>
          <a:solidFill>
            <a:srgbClr val="E8703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0000"/>
                </a:solidFill>
              </a:rPr>
              <a:t>🔬</a:t>
            </a:r>
            <a:endParaRPr lang="en-US" sz="2800"/>
          </a:p>
        </p:txBody>
      </p:sp>
      <p:sp>
        <p:nvSpPr>
          <p:cNvPr id="28" name="Text 26"/>
          <p:cNvSpPr/>
          <p:nvPr/>
        </p:nvSpPr>
        <p:spPr>
          <a:xfrm>
            <a:off x="6309360" y="1737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</a:t>
            </a:r>
            <a:endParaRPr lang="en-US" sz="1600"/>
          </a:p>
        </p:txBody>
      </p:sp>
      <p:sp>
        <p:nvSpPr>
          <p:cNvPr id="29" name="Text 27"/>
          <p:cNvSpPr/>
          <p:nvPr/>
        </p:nvSpPr>
        <p:spPr>
          <a:xfrm>
            <a:off x="6309360" y="2057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500/day  ·  Large + Image  ·  US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649224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Energy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758952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kWh/day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492240" y="31089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Carbon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7589520" y="3108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28.9 kg CO₂/yr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649224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758952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A3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L/month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54864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estimates use uncertainty ranges (min / avg / max). Values shown are averages.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3C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Differ</a:t>
            </a:r>
            <a:endParaRPr lang="en-US" sz="360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GPTFootprint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+ Carbon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footprint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analysis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Phrase attribution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suggestions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coefficients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avg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CodeCarbon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setup required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API key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1A3C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ext.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differentiator: we analyze the prompt content itself, not just count queries.</a:t>
            </a:r>
            <a:endParaRPr lang="en-US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Directions</a:t>
            </a:r>
            <a:endParaRPr lang="en-US" sz="320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822960" y="17373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on 2 small models only (250M, 500M)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β_ℓ uses keyword heuristics, not the full regression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pinned to T4 (γ_h = 1.0)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carbon out of scope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API measurement</a:t>
            </a:r>
            <a:endParaRPr lang="en-US" sz="120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4846320" y="17373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on larger models (7B, 70B) with A100s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full regression model via Flask backend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Monte Carlo uncertainty (replace min/max)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real-time ChatGPT tracking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 on awareness → behavior change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Footprint Calculator</dc:title>
  <dc:subject>PptxGenJS Presentation</dc:subject>
  <dc:creator>Arindam Rajiv Dongre &amp; Pratik Chaudhari</dc:creator>
  <cp:revision>81</cp:revision>
  <dcterms:created xsi:type="dcterms:W3CDTF">2026-04-20T07:46:39Z</dcterms:created>
  <dcterms:modified xsi:type="dcterms:W3CDTF">2026-04-20T17:52:16Z</dcterms:modified>
</cp:coreProperties>
</file>